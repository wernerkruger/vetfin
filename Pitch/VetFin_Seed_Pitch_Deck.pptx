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A2E28"/>
                </a:solidFill>
                <a:latin typeface="Cambria"/>
              </a:defRPr>
            </a:pPr>
            <a:r>
              <a:rPr sz="1300" b="0" i="0" u="none" strike="noStrike">
                <a:solidFill>
                  <a:srgbClr val="1A2E28"/>
                </a:solidFill>
                <a:latin typeface="Cambria"/>
              </a:rPr>
              <a:t>Total revenue ($M)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($M)</c:v>
                </c:pt>
              </c:strCache>
            </c:strRef>
          </c:tx>
          <c:spPr>
            <a:solidFill>
              <a:srgbClr val="1D6B5C"/>
            </a:solidFill>
            <a:effectLst/>
          </c:spPr>
          <c:invertIfNegative val="0"/>
          <c:dLbls>
            <c:numFmt formatCode="$0.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A2E28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Year 1</c:v>
                  </c:pt>
                  <c:pt idx="1">
                    <c:v>Year 2</c:v>
                  </c:pt>
                  <c:pt idx="2">
                    <c:v>Year 3</c:v>
                  </c:pt>
                  <c:pt idx="3">
                    <c:v>Year 4</c:v>
                  </c:pt>
                  <c:pt idx="4">
                    <c:v>Year 5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0.11</c:v>
                </c:pt>
                <c:pt idx="1">
                  <c:v>1.62</c:v>
                </c:pt>
                <c:pt idx="2">
                  <c:v>5.74</c:v>
                </c:pt>
                <c:pt idx="3">
                  <c:v>11.37</c:v>
                </c:pt>
                <c:pt idx="4">
                  <c:v>16.41</c:v>
                </c:pt>
              </c:numCache>
            </c:numRef>
          </c:val>
        </c:ser>
        <c:dLbls>
          <c:numFmt formatCode="$0.0" sourceLinked="0"/>
          <c:txPr>
            <a:bodyPr/>
            <a:lstStyle/>
            <a:p>
              <a:pPr>
                <a:defRPr b="0" i="0" strike="noStrike" sz="1000" u="none">
                  <a:solidFill>
                    <a:srgbClr val="1A2E28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4A635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D4DDD8"/>
              </a:solidFill>
              <a:prstDash val="solid"/>
              <a:round/>
            </a:ln>
          </c:spPr>
        </c:majorGridlines>
        <c:numFmt formatCode="$0.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A635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A2E28"/>
                </a:solidFill>
                <a:latin typeface="Cambria"/>
              </a:defRPr>
            </a:pPr>
            <a:r>
              <a:rPr sz="1300" b="0" i="0" u="none" strike="noStrike">
                <a:solidFill>
                  <a:srgbClr val="1A2E28"/>
                </a:solidFill>
                <a:latin typeface="Cambria"/>
              </a:rPr>
              <a:t>Net income ($M) — breakeven Year 3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Net income ($M)</c:v>
                </c:pt>
              </c:strCache>
            </c:strRef>
          </c:tx>
          <c:spPr>
            <a:solidFill>
              <a:srgbClr val="E8A54B"/>
            </a:solidFill>
            <a:ln w="31750" cap="flat">
              <a:solidFill>
                <a:srgbClr val="E8A54B"/>
              </a:solidFill>
              <a:prstDash val="solid"/>
              <a:round/>
            </a:ln>
            <a:effectLst/>
          </c:spPr>
          <c:invertIfNegative val="0"/>
          <c:dLbls>
            <c:numFmt formatCode="$0.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A2E28"/>
                    </a:solidFill>
                    <a:latin typeface="Arial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E8A54B"/>
              </a:solidFill>
              <a:ln w="9525" cap="flat">
                <a:solidFill>
                  <a:srgbClr val="E8A54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Year 1</c:v>
                  </c:pt>
                  <c:pt idx="1">
                    <c:v>Year 2</c:v>
                  </c:pt>
                  <c:pt idx="2">
                    <c:v>Year 3</c:v>
                  </c:pt>
                  <c:pt idx="3">
                    <c:v>Year 4</c:v>
                  </c:pt>
                  <c:pt idx="4">
                    <c:v>Year 5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-0.68</c:v>
                </c:pt>
                <c:pt idx="1">
                  <c:v>-0.28</c:v>
                </c:pt>
                <c:pt idx="2">
                  <c:v>0.64</c:v>
                </c:pt>
                <c:pt idx="3">
                  <c:v>1.69</c:v>
                </c:pt>
                <c:pt idx="4">
                  <c:v>2.22</c:v>
                </c:pt>
              </c:numCache>
            </c:numRef>
          </c:val>
          <c:smooth val="0"/>
        </c:ser>
        <c:dLbls>
          <c:numFmt formatCode="$0.0" sourceLinked="0"/>
          <c:txPr>
            <a:bodyPr/>
            <a:lstStyle/>
            <a:p>
              <a:pPr>
                <a:defRPr b="0" i="0" strike="noStrike" sz="1000" u="none">
                  <a:solidFill>
                    <a:srgbClr val="1A2E28"/>
                  </a:solidFill>
                  <a:latin typeface="Arial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4A635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D4DDD8"/>
              </a:solidFill>
              <a:prstDash val="solid"/>
              <a:round/>
            </a:ln>
          </c:spPr>
        </c:majorGridlines>
        <c:numFmt formatCode="$0.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A635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52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194560"/>
            <a:ext cx="5943600" cy="5943600"/>
          </a:xfrm>
          <a:prstGeom prst="ellipse">
            <a:avLst/>
          </a:prstGeom>
          <a:solidFill>
            <a:srgbClr val="1D6B5C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206240"/>
            <a:ext cx="3840480" cy="3840480"/>
          </a:xfrm>
          <a:prstGeom prst="ellipse">
            <a:avLst/>
          </a:prstGeom>
          <a:solidFill>
            <a:srgbClr val="2A8F7A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502920"/>
            <a:ext cx="310896" cy="310896"/>
          </a:xfrm>
          <a:prstGeom prst="roundRect">
            <a:avLst>
              <a:gd name="adj" fmla="val 20588"/>
            </a:avLst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5029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D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VF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42416" y="48463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VetFin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23317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A5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ROUND  ·  $1,000,000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2697480"/>
            <a:ext cx="8686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Care for your pet now.</a:t>
            </a:r>
            <a:endParaRPr lang="en-US" sz="4600" dirty="0"/>
          </a:p>
          <a:p>
            <a:pPr indent="0" marL="0">
              <a:lnSpc>
                <a:spcPts val="5000"/>
              </a:lnSpc>
              <a:buNone/>
            </a:pPr>
            <a:r>
              <a:rPr lang="en-US" sz="4600" b="1" dirty="0">
                <a:solidFill>
                  <a:srgbClr val="E8A5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Pay on your terms.</a:t>
            </a:r>
            <a:endParaRPr lang="en-US" sz="4600" dirty="0"/>
          </a:p>
        </p:txBody>
      </p:sp>
      <p:sp>
        <p:nvSpPr>
          <p:cNvPr id="9" name="Text 7"/>
          <p:cNvSpPr/>
          <p:nvPr/>
        </p:nvSpPr>
        <p:spPr>
          <a:xfrm>
            <a:off x="640080" y="434340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Point-of-care financing for veterinary bills — embedded at checkout, funded in minutes, repaid on fair terms.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080" y="60807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C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 Overview  · 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D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2800" b="1" dirty="0">
                <a:solidFill>
                  <a:srgbClr val="1A2E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Pet owners are cornered into skipping care, or paying 27% for it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2542032" cy="1874520"/>
          </a:xfrm>
          <a:prstGeom prst="roundRect">
            <a:avLst>
              <a:gd name="adj" fmla="val 4878"/>
            </a:avLst>
          </a:prstGeom>
          <a:solidFill>
            <a:srgbClr val="FAF7F2"/>
          </a:solidFill>
          <a:ln/>
        </p:spPr>
      </p:sp>
      <p:sp>
        <p:nvSpPr>
          <p:cNvPr id="5" name="Text 3"/>
          <p:cNvSpPr/>
          <p:nvPr/>
        </p:nvSpPr>
        <p:spPr>
          <a:xfrm>
            <a:off x="804672" y="2075688"/>
            <a:ext cx="2212848" cy="108722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D6B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52%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804672" y="3128162"/>
            <a:ext cx="2212848" cy="6373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4A6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pet owners skipped a recommended treatment last year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383280" y="1965960"/>
            <a:ext cx="2542032" cy="1874520"/>
          </a:xfrm>
          <a:prstGeom prst="roundRect">
            <a:avLst>
              <a:gd name="adj" fmla="val 4878"/>
            </a:avLst>
          </a:prstGeom>
          <a:solidFill>
            <a:srgbClr val="FAF7F2"/>
          </a:solidFill>
          <a:ln/>
        </p:spPr>
      </p:sp>
      <p:sp>
        <p:nvSpPr>
          <p:cNvPr id="8" name="Text 6"/>
          <p:cNvSpPr/>
          <p:nvPr/>
        </p:nvSpPr>
        <p:spPr>
          <a:xfrm>
            <a:off x="3547872" y="2075688"/>
            <a:ext cx="2212848" cy="108722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D6B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71%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3547872" y="3128162"/>
            <a:ext cx="2212848" cy="6373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4A6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those said cost was the reason they said no to care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126480" y="1965960"/>
            <a:ext cx="2542032" cy="1874520"/>
          </a:xfrm>
          <a:prstGeom prst="roundRect">
            <a:avLst>
              <a:gd name="adj" fmla="val 4878"/>
            </a:avLst>
          </a:prstGeom>
          <a:solidFill>
            <a:srgbClr val="FAF7F2"/>
          </a:solidFill>
          <a:ln/>
        </p:spPr>
      </p:sp>
      <p:sp>
        <p:nvSpPr>
          <p:cNvPr id="11" name="Text 9"/>
          <p:cNvSpPr/>
          <p:nvPr/>
        </p:nvSpPr>
        <p:spPr>
          <a:xfrm>
            <a:off x="6291072" y="2075688"/>
            <a:ext cx="2212848" cy="108722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D6B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$300–$10k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6291072" y="3128162"/>
            <a:ext cx="2212848" cy="6373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4A6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range for an emergency vet bill, due same day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869680" y="1965960"/>
            <a:ext cx="2542032" cy="1874520"/>
          </a:xfrm>
          <a:prstGeom prst="roundRect">
            <a:avLst>
              <a:gd name="adj" fmla="val 4878"/>
            </a:avLst>
          </a:prstGeom>
          <a:solidFill>
            <a:srgbClr val="FAF7F2"/>
          </a:solidFill>
          <a:ln/>
        </p:spPr>
      </p:sp>
      <p:sp>
        <p:nvSpPr>
          <p:cNvPr id="14" name="Text 12"/>
          <p:cNvSpPr/>
          <p:nvPr/>
        </p:nvSpPr>
        <p:spPr>
          <a:xfrm>
            <a:off x="9034272" y="2075688"/>
            <a:ext cx="2212848" cy="108722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B848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~27%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9034272" y="3128162"/>
            <a:ext cx="2212848" cy="6373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4A6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 on the dominant incumbent card — plus a hard $25k cap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" y="4251960"/>
            <a:ext cx="10881360" cy="1600200"/>
          </a:xfrm>
          <a:prstGeom prst="roundRect">
            <a:avLst>
              <a:gd name="adj" fmla="val 5714"/>
            </a:avLst>
          </a:prstGeom>
          <a:solidFill>
            <a:srgbClr val="145247"/>
          </a:solidFill>
          <a:ln/>
        </p:spPr>
      </p:sp>
      <p:sp>
        <p:nvSpPr>
          <p:cNvPr id="17" name="Text 15"/>
          <p:cNvSpPr/>
          <p:nvPr/>
        </p:nvSpPr>
        <p:spPr>
          <a:xfrm>
            <a:off x="960120" y="4480560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moment that matters is at the front desk.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960120" y="493776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D7E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Estimates arrive when the pet is already on the table. Owners need a real answer in minutes — not a mail-in application, not a $25,000-limit generic card, not a decision they make three days later after the window has closed.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1155161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4D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D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E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VetFin: financing built into the exam room, not bolted 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7863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50" dirty="0">
                <a:solidFill>
                  <a:srgbClr val="4A6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modern, vet-specific point-of-care lending product — offered by the practice at checkout, underwritten in real time, funded directly to the clinic so treatment starts today.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420624" cy="420624"/>
          </a:xfrm>
          <a:prstGeom prst="ellipse">
            <a:avLst/>
          </a:prstGeom>
          <a:solidFill>
            <a:srgbClr val="1D6B5C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26060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34440" y="2569464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2E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Embedded, not a detour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5394960" y="2569464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4A6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Offered right at the front desk via link, QR, or kiosk — no separate app, no second trip.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0080" y="3447288"/>
            <a:ext cx="420624" cy="420624"/>
          </a:xfrm>
          <a:prstGeom prst="ellipse">
            <a:avLst/>
          </a:prstGeom>
          <a:solidFill>
            <a:srgbClr val="1D6B5C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34472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234440" y="3410712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2E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Fair, transparent terms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5394960" y="3410712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4A6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19% APR target vs. ~27% on the market-leading incumbent card, disclosed before signing.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40080" y="4288536"/>
            <a:ext cx="420624" cy="420624"/>
          </a:xfrm>
          <a:prstGeom prst="ellipse">
            <a:avLst/>
          </a:prstGeom>
          <a:solidFill>
            <a:srgbClr val="1D6B5C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428853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34440" y="425196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2E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Underwritten for this vertical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5394960" y="425196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4A6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+ bank-data decisioning tuned to veterinary loan behavior, not a generic personal loan model.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40080" y="5129784"/>
            <a:ext cx="420624" cy="420624"/>
          </a:xfrm>
          <a:prstGeom prst="ellipse">
            <a:avLst/>
          </a:prstGeom>
          <a:solidFill>
            <a:srgbClr val="1D6B5C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512978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234440" y="5093208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2E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Bank-partnered from day one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5394960" y="5093208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4A6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Originated through a chartered bank partner (e.g. WebBank) — licensed, compliant, nationwide.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1155161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4D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D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E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Financing built for the exam room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456432" cy="3566160"/>
          </a:xfrm>
          <a:prstGeom prst="roundRect">
            <a:avLst>
              <a:gd name="adj" fmla="val 31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A2E28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224028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8A5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914400" y="3108960"/>
            <a:ext cx="29077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650" b="1" dirty="0">
                <a:solidFill>
                  <a:srgbClr val="1A2E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Get the estimate at the clinic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914400" y="4069080"/>
            <a:ext cx="290779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4A6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vet shares the treatment plan and cost. VetFin is offered right there — no separate trip or paperwork pile.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4114800" y="3429000"/>
            <a:ext cx="2194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D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4352544" y="1965960"/>
            <a:ext cx="3456432" cy="3566160"/>
          </a:xfrm>
          <a:prstGeom prst="roundRect">
            <a:avLst>
              <a:gd name="adj" fmla="val 31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A2E28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626864" y="224028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8A5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4626864" y="3108960"/>
            <a:ext cx="29077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650" b="1" dirty="0">
                <a:solidFill>
                  <a:srgbClr val="1A2E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Apply in minutes, on your phone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4626864" y="4069080"/>
            <a:ext cx="290779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4A6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short application verifies identity and income via secure bank and credit connections.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7827264" y="3429000"/>
            <a:ext cx="2194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D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8065008" y="1965960"/>
            <a:ext cx="3456432" cy="3566160"/>
          </a:xfrm>
          <a:prstGeom prst="roundRect">
            <a:avLst>
              <a:gd name="adj" fmla="val 31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A2E28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339328" y="224028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8A5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8339328" y="3108960"/>
            <a:ext cx="29077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650" b="1" dirty="0">
                <a:solidFill>
                  <a:srgbClr val="1A2E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pay the practice; you repay VetFin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8339328" y="4069080"/>
            <a:ext cx="290779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4A6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 funds go directly to the clinic so treatment starts now. You choose a plan that fits your budget.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1155161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4D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D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OPPORTUNITY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2E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large, growing market with a proven willingness to finance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3383280" cy="1828800"/>
          </a:xfrm>
          <a:prstGeom prst="roundRect">
            <a:avLst>
              <a:gd name="adj" fmla="val 5000"/>
            </a:avLst>
          </a:prstGeom>
          <a:solidFill>
            <a:srgbClr val="FAF7F2"/>
          </a:solidFill>
          <a:ln/>
        </p:spPr>
      </p:sp>
      <p:sp>
        <p:nvSpPr>
          <p:cNvPr id="5" name="Text 3"/>
          <p:cNvSpPr/>
          <p:nvPr/>
        </p:nvSpPr>
        <p:spPr>
          <a:xfrm>
            <a:off x="804672" y="1938528"/>
            <a:ext cx="3054096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D6B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$41.7B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804672" y="2962656"/>
            <a:ext cx="305409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4A6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U.S. veterinary services market, 2026 — growing ~7-8% CAGR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206240" y="1828800"/>
            <a:ext cx="3383280" cy="1828800"/>
          </a:xfrm>
          <a:prstGeom prst="roundRect">
            <a:avLst>
              <a:gd name="adj" fmla="val 5000"/>
            </a:avLst>
          </a:prstGeom>
          <a:solidFill>
            <a:srgbClr val="FAF7F2"/>
          </a:solidFill>
          <a:ln/>
        </p:spPr>
      </p:sp>
      <p:sp>
        <p:nvSpPr>
          <p:cNvPr id="8" name="Text 6"/>
          <p:cNvSpPr/>
          <p:nvPr/>
        </p:nvSpPr>
        <p:spPr>
          <a:xfrm>
            <a:off x="4370832" y="1938528"/>
            <a:ext cx="3054096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D6B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86.9M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4370832" y="2962656"/>
            <a:ext cx="305409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4A6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U.S. households (66%) own a pet — the addressable customer base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772400" y="1828800"/>
            <a:ext cx="3776472" cy="1828800"/>
          </a:xfrm>
          <a:prstGeom prst="roundRect">
            <a:avLst>
              <a:gd name="adj" fmla="val 5000"/>
            </a:avLst>
          </a:prstGeom>
          <a:solidFill>
            <a:srgbClr val="FAF7F2"/>
          </a:solidFill>
          <a:ln/>
        </p:spPr>
      </p:sp>
      <p:sp>
        <p:nvSpPr>
          <p:cNvPr id="11" name="Text 9"/>
          <p:cNvSpPr/>
          <p:nvPr/>
        </p:nvSpPr>
        <p:spPr>
          <a:xfrm>
            <a:off x="7936992" y="1938528"/>
            <a:ext cx="3447288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452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34,346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7936992" y="2962656"/>
            <a:ext cx="344728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4A6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U.S. veterinary clinics already identified &amp; enriched in our own database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0080" y="3931920"/>
            <a:ext cx="10908792" cy="1965960"/>
          </a:xfrm>
          <a:prstGeom prst="roundRect">
            <a:avLst>
              <a:gd name="adj" fmla="val 4651"/>
            </a:avLst>
          </a:prstGeom>
          <a:solidFill>
            <a:srgbClr val="FDF0DC"/>
          </a:solidFill>
          <a:ln/>
        </p:spPr>
      </p:sp>
      <p:sp>
        <p:nvSpPr>
          <p:cNvPr id="14" name="Text 12"/>
          <p:cNvSpPr/>
          <p:nvPr/>
        </p:nvSpPr>
        <p:spPr>
          <a:xfrm>
            <a:off x="960120" y="4160520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52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Financing demand already exists — VetFin just makes it fair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960120" y="4617720"/>
            <a:ext cx="10241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1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CareCredit is accepted at ~85% of U.S. veterinary practices, proving pet owners will finance care when it's offered at checkout. But it's a generic medical card, not vet-specific, charges up to ~27% APR, and caps out at $25,000. VetFin competes directly on rate, underwriting, and a clinic-first experience built only for this vertical.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155161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4D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D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E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Simple loan economics, priced to work at scale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212080" cy="4160520"/>
          </a:xfrm>
          <a:prstGeom prst="roundRect">
            <a:avLst>
              <a:gd name="adj" fmla="val 2637"/>
            </a:avLst>
          </a:prstGeom>
          <a:solidFill>
            <a:srgbClr val="FAF7F2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205740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6B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Per-loan economics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256032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6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loan size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3703320" y="256032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1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$1,800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914400" y="310896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6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term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3703320" y="310896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1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months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914400" y="365760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6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Borrower APR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3703320" y="365760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1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19%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914400" y="420624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6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Origination fee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3703320" y="420624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1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2% of loan, at funding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6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net loss rate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3703320" y="475488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1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~6% of avg. portfolio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914400" y="530352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6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Referral funnel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3703320" y="530352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1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referrals / practice / week, 65% approved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6062472" y="1828800"/>
            <a:ext cx="5486400" cy="4160520"/>
          </a:xfrm>
          <a:prstGeom prst="roundRect">
            <a:avLst>
              <a:gd name="adj" fmla="val 2637"/>
            </a:avLst>
          </a:prstGeom>
          <a:solidFill>
            <a:srgbClr val="145247"/>
          </a:solidFill>
          <a:ln/>
        </p:spPr>
      </p:sp>
      <p:sp>
        <p:nvSpPr>
          <p:cNvPr id="19" name="Text 17"/>
          <p:cNvSpPr/>
          <p:nvPr/>
        </p:nvSpPr>
        <p:spPr>
          <a:xfrm>
            <a:off x="6355080" y="20574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A5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Revenue engine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355080" y="2514600"/>
            <a:ext cx="4892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D7E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revenue lines per loan: interest income earned monthly on the outstanding balance, and a 2% origination fee collected upfront at funding.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355080" y="3520440"/>
            <a:ext cx="4892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D7E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stack: cost of warehouse debt (~9% APR on drawn balance), expected credit losses (~6%/yr), and bank-partner program fees for origination under a chartered bank.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355080" y="4709160"/>
            <a:ext cx="4892040" cy="0"/>
          </a:xfrm>
          <a:prstGeom prst="line">
            <a:avLst/>
          </a:prstGeom>
          <a:noFill/>
          <a:ln w="12700">
            <a:solidFill>
              <a:srgbClr val="2A8F7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55080" y="4892040"/>
            <a:ext cx="4892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i="1" dirty="0">
                <a:solidFill>
                  <a:srgbClr val="E8A5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portfolio yield funds growth as the book scales — modeled to turn net-income-positive by Year 3.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155161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4D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D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STRATEGY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2E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bank-partner model — licensed on day one, nationwide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4A6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VetFin doesn't hold a lending license — and doesn't need one. Every loan is originated by a chartered bank partner (structurally modeled on WebBank), the standard approach used by Affirm, Klarna-style point-of-sale lenders, and most consumer fintech credit programs.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456432" cy="288036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A2E28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402336" cy="402336"/>
          </a:xfrm>
          <a:prstGeom prst="ellipse">
            <a:avLst/>
          </a:prstGeom>
          <a:solidFill>
            <a:srgbClr val="1D6B5C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9992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0" y="3566160"/>
            <a:ext cx="2907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1A2E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Bank originates &amp; funds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914400" y="4114800"/>
            <a:ext cx="290779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4A6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Utah-chartered industrial bank underwrites and funds every loan with its own capital — no state-by-state lending license required, and no state usury cap on the 19% APR.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352544" y="2743200"/>
            <a:ext cx="3456432" cy="288036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A2E28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26864" y="2999232"/>
            <a:ext cx="402336" cy="402336"/>
          </a:xfrm>
          <a:prstGeom prst="ellipse">
            <a:avLst/>
          </a:prstGeom>
          <a:solidFill>
            <a:srgbClr val="1D6B5C"/>
          </a:solidFill>
          <a:ln/>
        </p:spPr>
      </p:sp>
      <p:sp>
        <p:nvSpPr>
          <p:cNvPr id="12" name="Text 10"/>
          <p:cNvSpPr/>
          <p:nvPr/>
        </p:nvSpPr>
        <p:spPr>
          <a:xfrm>
            <a:off x="4626864" y="29992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626864" y="3566160"/>
            <a:ext cx="2907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1A2E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buy 95% of each loan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4626864" y="4114800"/>
            <a:ext cx="290779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4A6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Within days, VetFin purchases ~95% of each loan's receivable, funded from equity and the warehouse facility. The bank keeps 5% on its own books permanently — standard 'skin in the game.'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065008" y="2743200"/>
            <a:ext cx="3456432" cy="288036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A2E28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339328" y="2999232"/>
            <a:ext cx="402336" cy="402336"/>
          </a:xfrm>
          <a:prstGeom prst="ellipse">
            <a:avLst/>
          </a:prstGeom>
          <a:solidFill>
            <a:srgbClr val="1D6B5C"/>
          </a:solidFill>
          <a:ln/>
        </p:spPr>
      </p:sp>
      <p:sp>
        <p:nvSpPr>
          <p:cNvPr id="17" name="Text 15"/>
          <p:cNvSpPr/>
          <p:nvPr/>
        </p:nvSpPr>
        <p:spPr>
          <a:xfrm>
            <a:off x="8339328" y="29992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339328" y="3566160"/>
            <a:ext cx="2907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1A2E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pay for the privilege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8339328" y="4114800"/>
            <a:ext cx="290779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4A6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VetFin pays the bank an ongoing program fee (~1% of originations, $15k/mo minimum) plus ~$75k/yr in incremental compliance and program-management overhead.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1155161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4D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D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GO-TO-MARKET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2E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Practice-first distribution, with the pipeline already built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257800" cy="4114800"/>
          </a:xfrm>
          <a:prstGeom prst="roundRect">
            <a:avLst>
              <a:gd name="adj" fmla="val 2667"/>
            </a:avLst>
          </a:prstGeom>
          <a:solidFill>
            <a:srgbClr val="FAF7F2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2103120"/>
            <a:ext cx="4709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6B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Sign the clinic, not just the borrower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914400" y="2724912"/>
            <a:ext cx="91440" cy="91440"/>
          </a:xfrm>
          <a:prstGeom prst="ellipse">
            <a:avLst/>
          </a:prstGeom>
          <a:solidFill>
            <a:srgbClr val="E8A54B"/>
          </a:solidFill>
          <a:ln/>
        </p:spPr>
      </p:sp>
      <p:sp>
        <p:nvSpPr>
          <p:cNvPr id="7" name="Text 5"/>
          <p:cNvSpPr/>
          <p:nvPr/>
        </p:nvSpPr>
        <p:spPr>
          <a:xfrm>
            <a:off x="1143000" y="2578608"/>
            <a:ext cx="4480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outreach to practice owners/managers using our own enriched database of 34,346 U.S. clinics — name, address, rating, and contact already mapped.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914400" y="3822192"/>
            <a:ext cx="91440" cy="91440"/>
          </a:xfrm>
          <a:prstGeom prst="ellipse">
            <a:avLst/>
          </a:prstGeom>
          <a:solidFill>
            <a:srgbClr val="E8A54B"/>
          </a:solidFill>
          <a:ln/>
        </p:spPr>
      </p:sp>
      <p:sp>
        <p:nvSpPr>
          <p:cNvPr id="9" name="Text 7"/>
          <p:cNvSpPr/>
          <p:nvPr/>
        </p:nvSpPr>
        <p:spPr>
          <a:xfrm>
            <a:off x="1143000" y="3675888"/>
            <a:ext cx="4480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staff workflow at checkout: shareable link, QR code, or front-desk kiosk — no integration lift for the clinic.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914400" y="4919472"/>
            <a:ext cx="91440" cy="91440"/>
          </a:xfrm>
          <a:prstGeom prst="ellipse">
            <a:avLst/>
          </a:prstGeom>
          <a:solidFill>
            <a:srgbClr val="E8A54B"/>
          </a:solidFill>
          <a:ln/>
        </p:spPr>
      </p:sp>
      <p:sp>
        <p:nvSpPr>
          <p:cNvPr id="11" name="Text 9"/>
          <p:cNvSpPr/>
          <p:nvPr/>
        </p:nvSpPr>
        <p:spPr>
          <a:xfrm>
            <a:off x="1143000" y="4773168"/>
            <a:ext cx="4480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Clinics benefit directly: estimates that would be declined on sticker shock get funded instead, without the practice chasing a payment plan.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108192" y="1874520"/>
            <a:ext cx="5440680" cy="4114800"/>
          </a:xfrm>
          <a:prstGeom prst="roundRect">
            <a:avLst>
              <a:gd name="adj" fmla="val 2667"/>
            </a:avLst>
          </a:prstGeom>
          <a:solidFill>
            <a:srgbClr val="145247"/>
          </a:solidFill>
          <a:ln/>
        </p:spPr>
      </p:sp>
      <p:sp>
        <p:nvSpPr>
          <p:cNvPr id="13" name="Text 11"/>
          <p:cNvSpPr/>
          <p:nvPr/>
        </p:nvSpPr>
        <p:spPr>
          <a:xfrm>
            <a:off x="6382512" y="2103120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A5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Practice growth assumptions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382512" y="265176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Year 1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315200" y="265176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D7E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new practices signed / month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9921240" y="265176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E8A5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 active by year-end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382512" y="3364992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Year 2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315200" y="3364992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D7E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new practices signed / month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9921240" y="3364992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E8A5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250 active by year-end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382512" y="4078224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Year 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315200" y="4078224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D7E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new practices signed / month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9921240" y="4078224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E8A5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528 active by year-end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382512" y="4791456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Year 5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315200" y="4791456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D7E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new practices signed / month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9921240" y="4791456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E8A5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827 active by year-end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155161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4D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D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LANDSCAPE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2E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Purpose-built for vets, priced fairer than the incumbent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2834640" cy="566928"/>
          </a:xfrm>
          <a:prstGeom prst="rect">
            <a:avLst/>
          </a:prstGeom>
          <a:solidFill>
            <a:srgbClr val="FAF7F2"/>
          </a:solidFill>
          <a:ln w="9525">
            <a:solidFill>
              <a:srgbClr val="D4DD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874520"/>
            <a:ext cx="2834640" cy="566928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algn="l" indent="0" marL="0">
              <a:buNone/>
            </a:pP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3474720" y="1874520"/>
            <a:ext cx="2148840" cy="566928"/>
          </a:xfrm>
          <a:prstGeom prst="rect">
            <a:avLst/>
          </a:prstGeom>
          <a:solidFill>
            <a:srgbClr val="1D6B5C"/>
          </a:solidFill>
          <a:ln w="9525">
            <a:solidFill>
              <a:srgbClr val="D4DD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0" y="1874520"/>
            <a:ext cx="2148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VetFin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623560" y="1874520"/>
            <a:ext cx="214884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4DD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23560" y="1874520"/>
            <a:ext cx="2148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A2E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CareCredit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7772400" y="1874520"/>
            <a:ext cx="214884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4DD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0" y="1874520"/>
            <a:ext cx="2148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A2E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Pet Insurance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9921240" y="1874520"/>
            <a:ext cx="214884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4DD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921240" y="1874520"/>
            <a:ext cx="2148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A2E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Generic BNPL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40080" y="2441448"/>
            <a:ext cx="2834640" cy="566928"/>
          </a:xfrm>
          <a:prstGeom prst="rect">
            <a:avLst/>
          </a:prstGeom>
          <a:solidFill>
            <a:srgbClr val="FAF7F2"/>
          </a:solidFill>
          <a:ln w="9525">
            <a:solidFill>
              <a:srgbClr val="D4DD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2441448"/>
            <a:ext cx="2834640" cy="566928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vet checkout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3474720" y="2441448"/>
            <a:ext cx="2148840" cy="566928"/>
          </a:xfrm>
          <a:prstGeom prst="rect">
            <a:avLst/>
          </a:prstGeom>
          <a:solidFill>
            <a:srgbClr val="FDF0DC"/>
          </a:solidFill>
          <a:ln w="9525">
            <a:solidFill>
              <a:srgbClr val="D4DD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74720" y="2441448"/>
            <a:ext cx="2148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452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623560" y="2441448"/>
            <a:ext cx="214884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4DDD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623560" y="2441448"/>
            <a:ext cx="2148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4A6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Retrofit medical card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7772400" y="2441448"/>
            <a:ext cx="214884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4DDD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72400" y="2441448"/>
            <a:ext cx="2148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4A6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— reimbursement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9921240" y="2441448"/>
            <a:ext cx="214884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4DDD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921240" y="2441448"/>
            <a:ext cx="2148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4A6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40080" y="3008376"/>
            <a:ext cx="2834640" cy="566928"/>
          </a:xfrm>
          <a:prstGeom prst="rect">
            <a:avLst/>
          </a:prstGeom>
          <a:solidFill>
            <a:srgbClr val="FAF7F2"/>
          </a:solidFill>
          <a:ln w="9525">
            <a:solidFill>
              <a:srgbClr val="D4DDD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3008376"/>
            <a:ext cx="2834640" cy="566928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APR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3474720" y="3008376"/>
            <a:ext cx="2148840" cy="566928"/>
          </a:xfrm>
          <a:prstGeom prst="rect">
            <a:avLst/>
          </a:prstGeom>
          <a:solidFill>
            <a:srgbClr val="FDF0DC"/>
          </a:solidFill>
          <a:ln w="9525">
            <a:solidFill>
              <a:srgbClr val="D4DDD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474720" y="3008376"/>
            <a:ext cx="2148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452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19%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5623560" y="3008376"/>
            <a:ext cx="214884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4DDD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23560" y="3008376"/>
            <a:ext cx="2148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4A6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~27%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7772400" y="3008376"/>
            <a:ext cx="214884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4DDD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772400" y="3008376"/>
            <a:ext cx="2148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4A6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 (premiums)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9921240" y="3008376"/>
            <a:ext cx="214884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4DDD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921240" y="3008376"/>
            <a:ext cx="2148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4A6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0–36%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640080" y="3575304"/>
            <a:ext cx="2834640" cy="566928"/>
          </a:xfrm>
          <a:prstGeom prst="rect">
            <a:avLst/>
          </a:prstGeom>
          <a:solidFill>
            <a:srgbClr val="FAF7F2"/>
          </a:solidFill>
          <a:ln w="9525">
            <a:solidFill>
              <a:srgbClr val="D4DDD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0080" y="3575304"/>
            <a:ext cx="2834640" cy="566928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Underwriting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3474720" y="3575304"/>
            <a:ext cx="2148840" cy="566928"/>
          </a:xfrm>
          <a:prstGeom prst="rect">
            <a:avLst/>
          </a:prstGeom>
          <a:solidFill>
            <a:srgbClr val="FDF0DC"/>
          </a:solidFill>
          <a:ln w="9525">
            <a:solidFill>
              <a:srgbClr val="D4DDD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474720" y="3575304"/>
            <a:ext cx="2148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452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Vet-specific model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5623560" y="3575304"/>
            <a:ext cx="214884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4DDD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623560" y="3575304"/>
            <a:ext cx="2148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4A6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medical credit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7772400" y="3575304"/>
            <a:ext cx="214884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4DDD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772400" y="3575304"/>
            <a:ext cx="2148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4A6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Actuarial, pre-illness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9921240" y="3575304"/>
            <a:ext cx="214884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4DDD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921240" y="3575304"/>
            <a:ext cx="2148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4A6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retail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640080" y="4142232"/>
            <a:ext cx="2834640" cy="566928"/>
          </a:xfrm>
          <a:prstGeom prst="rect">
            <a:avLst/>
          </a:prstGeom>
          <a:solidFill>
            <a:srgbClr val="FAF7F2"/>
          </a:solidFill>
          <a:ln w="9525">
            <a:solidFill>
              <a:srgbClr val="D4DDD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40080" y="4142232"/>
            <a:ext cx="2834640" cy="566928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 speed</a:t>
            </a:r>
            <a:endParaRPr lang="en-US" sz="1150" dirty="0"/>
          </a:p>
        </p:txBody>
      </p:sp>
      <p:sp>
        <p:nvSpPr>
          <p:cNvPr id="46" name="Shape 44"/>
          <p:cNvSpPr/>
          <p:nvPr/>
        </p:nvSpPr>
        <p:spPr>
          <a:xfrm>
            <a:off x="3474720" y="4142232"/>
            <a:ext cx="2148840" cy="566928"/>
          </a:xfrm>
          <a:prstGeom prst="rect">
            <a:avLst/>
          </a:prstGeom>
          <a:solidFill>
            <a:srgbClr val="FDF0DC"/>
          </a:solidFill>
          <a:ln w="9525">
            <a:solidFill>
              <a:srgbClr val="D4DDD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474720" y="4142232"/>
            <a:ext cx="2148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452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Minutes, at checkout</a:t>
            </a:r>
            <a:endParaRPr lang="en-US" sz="1150" dirty="0"/>
          </a:p>
        </p:txBody>
      </p:sp>
      <p:sp>
        <p:nvSpPr>
          <p:cNvPr id="48" name="Shape 46"/>
          <p:cNvSpPr/>
          <p:nvPr/>
        </p:nvSpPr>
        <p:spPr>
          <a:xfrm>
            <a:off x="5623560" y="4142232"/>
            <a:ext cx="214884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4DDD8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623560" y="4142232"/>
            <a:ext cx="2148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4A6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Minutes, at checkout</a:t>
            </a:r>
            <a:endParaRPr lang="en-US" sz="1150" dirty="0"/>
          </a:p>
        </p:txBody>
      </p:sp>
      <p:sp>
        <p:nvSpPr>
          <p:cNvPr id="50" name="Shape 48"/>
          <p:cNvSpPr/>
          <p:nvPr/>
        </p:nvSpPr>
        <p:spPr>
          <a:xfrm>
            <a:off x="7772400" y="4142232"/>
            <a:ext cx="214884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4DDD8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772400" y="4142232"/>
            <a:ext cx="2148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4A6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</a:t>
            </a:r>
            <a:endParaRPr lang="en-US" sz="1150" dirty="0"/>
          </a:p>
        </p:txBody>
      </p:sp>
      <p:sp>
        <p:nvSpPr>
          <p:cNvPr id="52" name="Shape 50"/>
          <p:cNvSpPr/>
          <p:nvPr/>
        </p:nvSpPr>
        <p:spPr>
          <a:xfrm>
            <a:off x="9921240" y="4142232"/>
            <a:ext cx="214884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4DDD8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9921240" y="4142232"/>
            <a:ext cx="2148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4A6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Minutes, at checkout</a:t>
            </a:r>
            <a:endParaRPr lang="en-US" sz="1150" dirty="0"/>
          </a:p>
        </p:txBody>
      </p:sp>
      <p:sp>
        <p:nvSpPr>
          <p:cNvPr id="54" name="Shape 52"/>
          <p:cNvSpPr/>
          <p:nvPr/>
        </p:nvSpPr>
        <p:spPr>
          <a:xfrm>
            <a:off x="640080" y="4709160"/>
            <a:ext cx="2834640" cy="566928"/>
          </a:xfrm>
          <a:prstGeom prst="rect">
            <a:avLst/>
          </a:prstGeom>
          <a:solidFill>
            <a:srgbClr val="FAF7F2"/>
          </a:solidFill>
          <a:ln w="9525">
            <a:solidFill>
              <a:srgbClr val="D4DDD8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40080" y="4709160"/>
            <a:ext cx="2834640" cy="566928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 cap</a:t>
            </a:r>
            <a:endParaRPr lang="en-US" sz="1150" dirty="0"/>
          </a:p>
        </p:txBody>
      </p:sp>
      <p:sp>
        <p:nvSpPr>
          <p:cNvPr id="56" name="Shape 54"/>
          <p:cNvSpPr/>
          <p:nvPr/>
        </p:nvSpPr>
        <p:spPr>
          <a:xfrm>
            <a:off x="3474720" y="4709160"/>
            <a:ext cx="2148840" cy="566928"/>
          </a:xfrm>
          <a:prstGeom prst="rect">
            <a:avLst/>
          </a:prstGeom>
          <a:solidFill>
            <a:srgbClr val="FDF0DC"/>
          </a:solidFill>
          <a:ln w="9525">
            <a:solidFill>
              <a:srgbClr val="D4DDD8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474720" y="4709160"/>
            <a:ext cx="2148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452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Flexible by practice</a:t>
            </a:r>
            <a:endParaRPr lang="en-US" sz="1150" dirty="0"/>
          </a:p>
        </p:txBody>
      </p:sp>
      <p:sp>
        <p:nvSpPr>
          <p:cNvPr id="58" name="Shape 56"/>
          <p:cNvSpPr/>
          <p:nvPr/>
        </p:nvSpPr>
        <p:spPr>
          <a:xfrm>
            <a:off x="5623560" y="4709160"/>
            <a:ext cx="214884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4DDD8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623560" y="4709160"/>
            <a:ext cx="2148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4A6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$25,000 hard cap</a:t>
            </a:r>
            <a:endParaRPr lang="en-US" sz="1150" dirty="0"/>
          </a:p>
        </p:txBody>
      </p:sp>
      <p:sp>
        <p:nvSpPr>
          <p:cNvPr id="60" name="Shape 58"/>
          <p:cNvSpPr/>
          <p:nvPr/>
        </p:nvSpPr>
        <p:spPr>
          <a:xfrm>
            <a:off x="7772400" y="4709160"/>
            <a:ext cx="214884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4DDD8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7772400" y="4709160"/>
            <a:ext cx="2148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4A6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</a:t>
            </a:r>
            <a:endParaRPr lang="en-US" sz="1150" dirty="0"/>
          </a:p>
        </p:txBody>
      </p:sp>
      <p:sp>
        <p:nvSpPr>
          <p:cNvPr id="62" name="Shape 60"/>
          <p:cNvSpPr/>
          <p:nvPr/>
        </p:nvSpPr>
        <p:spPr>
          <a:xfrm>
            <a:off x="9921240" y="4709160"/>
            <a:ext cx="214884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4DDD8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9921240" y="4709160"/>
            <a:ext cx="2148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4A6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Varies, low-ticket</a:t>
            </a:r>
            <a:endParaRPr lang="en-US" sz="1150" dirty="0"/>
          </a:p>
        </p:txBody>
      </p:sp>
      <p:sp>
        <p:nvSpPr>
          <p:cNvPr id="64" name="Text 62"/>
          <p:cNvSpPr/>
          <p:nvPr/>
        </p:nvSpPr>
        <p:spPr>
          <a:xfrm>
            <a:off x="1155161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4D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D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PROJECTIONS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E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Five-year plan: 42 to 827 practices, to $16.4M revenue</a:t>
            </a:r>
            <a:endParaRPr lang="en-US" sz="26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" y="1783080"/>
          <a:ext cx="5486400" cy="2880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Chart 1" descr=""/>
          <p:cNvGraphicFramePr/>
          <p:nvPr/>
        </p:nvGraphicFramePr>
        <p:xfrm>
          <a:off x="6309360" y="1783080"/>
          <a:ext cx="5257800" cy="2880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Shape 2"/>
          <p:cNvSpPr/>
          <p:nvPr/>
        </p:nvSpPr>
        <p:spPr>
          <a:xfrm>
            <a:off x="640080" y="5029200"/>
            <a:ext cx="2615184" cy="1234440"/>
          </a:xfrm>
          <a:prstGeom prst="roundRect">
            <a:avLst>
              <a:gd name="adj" fmla="val 7407"/>
            </a:avLst>
          </a:prstGeom>
          <a:solidFill>
            <a:srgbClr val="FAF7F2"/>
          </a:solidFill>
          <a:ln/>
        </p:spPr>
      </p:sp>
      <p:sp>
        <p:nvSpPr>
          <p:cNvPr id="7" name="Text 3"/>
          <p:cNvSpPr/>
          <p:nvPr/>
        </p:nvSpPr>
        <p:spPr>
          <a:xfrm>
            <a:off x="804672" y="5138928"/>
            <a:ext cx="2286000" cy="71597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D6B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135,227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804672" y="5794553"/>
            <a:ext cx="2286000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4A6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loans funded, cumulative 5yr</a:t>
            </a:r>
            <a:endParaRPr lang="en-US" sz="1050" dirty="0"/>
          </a:p>
        </p:txBody>
      </p:sp>
      <p:sp>
        <p:nvSpPr>
          <p:cNvPr id="9" name="Shape 5"/>
          <p:cNvSpPr/>
          <p:nvPr/>
        </p:nvSpPr>
        <p:spPr>
          <a:xfrm>
            <a:off x="3438144" y="5029200"/>
            <a:ext cx="2615184" cy="1234440"/>
          </a:xfrm>
          <a:prstGeom prst="roundRect">
            <a:avLst>
              <a:gd name="adj" fmla="val 7407"/>
            </a:avLst>
          </a:prstGeom>
          <a:solidFill>
            <a:srgbClr val="FAF7F2"/>
          </a:solidFill>
          <a:ln/>
        </p:spPr>
      </p:sp>
      <p:sp>
        <p:nvSpPr>
          <p:cNvPr id="10" name="Text 6"/>
          <p:cNvSpPr/>
          <p:nvPr/>
        </p:nvSpPr>
        <p:spPr>
          <a:xfrm>
            <a:off x="3602736" y="5138928"/>
            <a:ext cx="2286000" cy="71597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D6B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$231M</a:t>
            </a:r>
            <a:endParaRPr lang="en-US" sz="2200" dirty="0"/>
          </a:p>
        </p:txBody>
      </p:sp>
      <p:sp>
        <p:nvSpPr>
          <p:cNvPr id="11" name="Text 7"/>
          <p:cNvSpPr/>
          <p:nvPr/>
        </p:nvSpPr>
        <p:spPr>
          <a:xfrm>
            <a:off x="3602736" y="5794553"/>
            <a:ext cx="2286000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4A6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originations, cumulative 5yr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6236208" y="5029200"/>
            <a:ext cx="2615184" cy="1234440"/>
          </a:xfrm>
          <a:prstGeom prst="roundRect">
            <a:avLst>
              <a:gd name="adj" fmla="val 7407"/>
            </a:avLst>
          </a:prstGeom>
          <a:solidFill>
            <a:srgbClr val="FAF7F2"/>
          </a:solidFill>
          <a:ln/>
        </p:spPr>
      </p:sp>
      <p:sp>
        <p:nvSpPr>
          <p:cNvPr id="13" name="Text 9"/>
          <p:cNvSpPr/>
          <p:nvPr/>
        </p:nvSpPr>
        <p:spPr>
          <a:xfrm>
            <a:off x="6400800" y="5138928"/>
            <a:ext cx="2286000" cy="71597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D6B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$86.7M</a:t>
            </a:r>
            <a:endParaRPr lang="en-US" sz="2200" dirty="0"/>
          </a:p>
        </p:txBody>
      </p:sp>
      <p:sp>
        <p:nvSpPr>
          <p:cNvPr id="14" name="Text 10"/>
          <p:cNvSpPr/>
          <p:nvPr/>
        </p:nvSpPr>
        <p:spPr>
          <a:xfrm>
            <a:off x="6400800" y="5794553"/>
            <a:ext cx="2286000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4A6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 portfolio, end of Year 5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9034272" y="5029200"/>
            <a:ext cx="2615184" cy="1234440"/>
          </a:xfrm>
          <a:prstGeom prst="roundRect">
            <a:avLst>
              <a:gd name="adj" fmla="val 7407"/>
            </a:avLst>
          </a:prstGeom>
          <a:solidFill>
            <a:srgbClr val="FAF7F2"/>
          </a:solidFill>
          <a:ln/>
        </p:spPr>
      </p:sp>
      <p:sp>
        <p:nvSpPr>
          <p:cNvPr id="16" name="Text 12"/>
          <p:cNvSpPr/>
          <p:nvPr/>
        </p:nvSpPr>
        <p:spPr>
          <a:xfrm>
            <a:off x="9198864" y="5138928"/>
            <a:ext cx="2286000" cy="71597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D6B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827</a:t>
            </a:r>
            <a:endParaRPr lang="en-US" sz="2200" dirty="0"/>
          </a:p>
        </p:txBody>
      </p:sp>
      <p:sp>
        <p:nvSpPr>
          <p:cNvPr id="17" name="Text 13"/>
          <p:cNvSpPr/>
          <p:nvPr/>
        </p:nvSpPr>
        <p:spPr>
          <a:xfrm>
            <a:off x="9198864" y="5794553"/>
            <a:ext cx="2286000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4A6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partner practices, end of Year 5</a:t>
            </a:r>
            <a:endParaRPr lang="en-US" sz="1050" dirty="0"/>
          </a:p>
        </p:txBody>
      </p:sp>
      <p:sp>
        <p:nvSpPr>
          <p:cNvPr id="18" name="Text 14"/>
          <p:cNvSpPr/>
          <p:nvPr/>
        </p:nvSpPr>
        <p:spPr>
          <a:xfrm>
            <a:off x="1155161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4D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D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PLAN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E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$1M seed today — a modeled, disciplined path after that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120640" cy="4160520"/>
          </a:xfrm>
          <a:prstGeom prst="roundRect">
            <a:avLst>
              <a:gd name="adj" fmla="val 263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A2E28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20574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6B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 of the $1M seed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2560320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A5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35%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783080" y="2542032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&amp; product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1783080" y="2816352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4A6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Founders, underwriting/eng hires, loan origination platform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914400" y="3355848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A5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25%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783080" y="3337560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&amp; bank-partner setup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1783080" y="3611880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4A6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Licensing groundwork, WebBank program stand-up, legal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914400" y="4151376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A5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20%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783080" y="4133088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&amp; clinic acquisition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1783080" y="4407408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4A6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outreach, onboarding, marketing collateral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914400" y="4946904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A5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20%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783080" y="4928616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capital &amp; loss buffer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1783080" y="5202936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4A6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Equity-funded originations before the warehouse facility turns on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989320" y="1828800"/>
            <a:ext cx="5577840" cy="4160520"/>
          </a:xfrm>
          <a:prstGeom prst="roundRect">
            <a:avLst>
              <a:gd name="adj" fmla="val 2637"/>
            </a:avLst>
          </a:prstGeom>
          <a:solidFill>
            <a:srgbClr val="145247"/>
          </a:solidFill>
          <a:ln/>
        </p:spPr>
      </p:sp>
      <p:sp>
        <p:nvSpPr>
          <p:cNvPr id="19" name="Text 17"/>
          <p:cNvSpPr/>
          <p:nvPr/>
        </p:nvSpPr>
        <p:spPr>
          <a:xfrm>
            <a:off x="6263640" y="20574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A5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model already accounts for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263640" y="2670048"/>
            <a:ext cx="82296" cy="82296"/>
          </a:xfrm>
          <a:prstGeom prst="ellipse">
            <a:avLst/>
          </a:prstGeom>
          <a:solidFill>
            <a:srgbClr val="E8A54B"/>
          </a:solidFill>
          <a:ln/>
        </p:spPr>
      </p:sp>
      <p:sp>
        <p:nvSpPr>
          <p:cNvPr id="21" name="Text 19"/>
          <p:cNvSpPr/>
          <p:nvPr/>
        </p:nvSpPr>
        <p:spPr>
          <a:xfrm>
            <a:off x="6473952" y="2514600"/>
            <a:ext cx="4892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50"/>
              </a:lnSpc>
              <a:buNone/>
            </a:pPr>
            <a:r>
              <a:rPr lang="en-US" sz="1200" dirty="0">
                <a:solidFill>
                  <a:srgbClr val="D7E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Warehouse facility starts at $10M once 250 loans are proven out on equity, then ratchets up automatically as utilization grows — reaching ~$108M of committed capacity by Year 5.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263640" y="3785616"/>
            <a:ext cx="82296" cy="82296"/>
          </a:xfrm>
          <a:prstGeom prst="ellipse">
            <a:avLst/>
          </a:prstGeom>
          <a:solidFill>
            <a:srgbClr val="E8A54B"/>
          </a:solidFill>
          <a:ln/>
        </p:spPr>
      </p:sp>
      <p:sp>
        <p:nvSpPr>
          <p:cNvPr id="23" name="Text 21"/>
          <p:cNvSpPr/>
          <p:nvPr/>
        </p:nvSpPr>
        <p:spPr>
          <a:xfrm>
            <a:off x="6473952" y="3630168"/>
            <a:ext cx="4892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50"/>
              </a:lnSpc>
              <a:buNone/>
            </a:pPr>
            <a:r>
              <a:rPr lang="en-US" sz="1200" dirty="0">
                <a:solidFill>
                  <a:srgbClr val="D7E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Equity raised at most once per year, sized with a 12-month look-ahead so cash never runs short: ~$7.6M raised across Years 1-5 on top of this seed, ~$8.6M all-in.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263640" y="4901184"/>
            <a:ext cx="82296" cy="82296"/>
          </a:xfrm>
          <a:prstGeom prst="ellipse">
            <a:avLst/>
          </a:prstGeom>
          <a:solidFill>
            <a:srgbClr val="E8A54B"/>
          </a:solidFill>
          <a:ln/>
        </p:spPr>
      </p:sp>
      <p:sp>
        <p:nvSpPr>
          <p:cNvPr id="25" name="Text 23"/>
          <p:cNvSpPr/>
          <p:nvPr/>
        </p:nvSpPr>
        <p:spPr>
          <a:xfrm>
            <a:off x="6473952" y="4745736"/>
            <a:ext cx="4892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50"/>
              </a:lnSpc>
              <a:buNone/>
            </a:pPr>
            <a:r>
              <a:rPr lang="en-US" sz="1200" dirty="0">
                <a:solidFill>
                  <a:srgbClr val="D7E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cash buffer maintained every month of the 5-year plan — no emergency raises, no covenant breaches modeled.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155161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4D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D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2E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build to Series A in six quarters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914400" y="3520440"/>
            <a:ext cx="10332720" cy="0"/>
          </a:xfrm>
          <a:prstGeom prst="line">
            <a:avLst/>
          </a:prstGeom>
          <a:noFill/>
          <a:ln w="25400">
            <a:solidFill>
              <a:srgbClr val="D4DD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86384" y="3392424"/>
            <a:ext cx="256032" cy="256032"/>
          </a:xfrm>
          <a:prstGeom prst="ellipse">
            <a:avLst/>
          </a:prstGeom>
          <a:solidFill>
            <a:srgbClr val="E8A54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210312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A5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H2 2026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74320" y="237744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A2E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274320" y="2624328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4A6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Site, application flow, and financial model complete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369564" y="3392424"/>
            <a:ext cx="256032" cy="256032"/>
          </a:xfrm>
          <a:prstGeom prst="ellipse">
            <a:avLst/>
          </a:prstGeom>
          <a:solidFill>
            <a:srgbClr val="1D6B5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423160" y="379476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A5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 2027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423160" y="406908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A2E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Raise &amp; register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2423160" y="4361688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4A6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this $1M seed round, register the business, open bank-partner talks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952744" y="3392424"/>
            <a:ext cx="256032" cy="256032"/>
          </a:xfrm>
          <a:prstGeom prst="ellipse">
            <a:avLst/>
          </a:prstGeom>
          <a:solidFill>
            <a:srgbClr val="1D6B5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06340" y="210312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A5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H2 2027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006340" y="237744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A2E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Concept launch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5006340" y="2624328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4A6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with 3-5 practices; begin warehouse debt &amp; Series A conversations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8535924" y="3392424"/>
            <a:ext cx="256032" cy="256032"/>
          </a:xfrm>
          <a:prstGeom prst="ellipse">
            <a:avLst/>
          </a:prstGeom>
          <a:solidFill>
            <a:srgbClr val="1D6B5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589520" y="379476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A5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Q4'27-Q1'28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589520" y="406908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A2E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Close Series A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7589520" y="4361688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4A6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Series A equity and the warehouse debt facility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11119104" y="3392424"/>
            <a:ext cx="256032" cy="256032"/>
          </a:xfrm>
          <a:prstGeom prst="ellipse">
            <a:avLst/>
          </a:prstGeom>
          <a:solidFill>
            <a:srgbClr val="1D6B5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768535" y="210312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A5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2028+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768535" y="237744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A2E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Scale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9768535" y="2624328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4A6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practice rollout across the enriched 34k-clinic pipeline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1155161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4D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D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2E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fintech credit builder and a board-certified vet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257800" cy="4160520"/>
          </a:xfrm>
          <a:prstGeom prst="roundRect">
            <a:avLst>
              <a:gd name="adj" fmla="val 263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A2E28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103120"/>
            <a:ext cx="685800" cy="685800"/>
          </a:xfrm>
          <a:prstGeom prst="ellipse">
            <a:avLst/>
          </a:prstGeom>
          <a:solidFill>
            <a:srgbClr val="1D6B5C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1031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WK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737360" y="21031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E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Werner Kruger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737360" y="245059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D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Co-Founder — Risk, Data &amp; Technology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914400" y="2990088"/>
            <a:ext cx="73152" cy="73152"/>
          </a:xfrm>
          <a:prstGeom prst="ellipse">
            <a:avLst/>
          </a:prstGeom>
          <a:solidFill>
            <a:srgbClr val="E8A54B"/>
          </a:solidFill>
          <a:ln/>
        </p:spPr>
      </p:sp>
      <p:sp>
        <p:nvSpPr>
          <p:cNvPr id="10" name="Text 8"/>
          <p:cNvSpPr/>
          <p:nvPr/>
        </p:nvSpPr>
        <p:spPr>
          <a:xfrm>
            <a:off x="1097280" y="2852928"/>
            <a:ext cx="4617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70" dirty="0">
                <a:solidFill>
                  <a:srgbClr val="4A6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 of Data Science, Empower (Tilt) — leading data/ML for one of the fastest-growing consumer fintechs</a:t>
            </a:r>
            <a:endParaRPr lang="en-US" sz="1070" dirty="0"/>
          </a:p>
        </p:txBody>
      </p:sp>
      <p:sp>
        <p:nvSpPr>
          <p:cNvPr id="11" name="Shape 9"/>
          <p:cNvSpPr/>
          <p:nvPr/>
        </p:nvSpPr>
        <p:spPr>
          <a:xfrm>
            <a:off x="914400" y="3520440"/>
            <a:ext cx="73152" cy="73152"/>
          </a:xfrm>
          <a:prstGeom prst="ellipse">
            <a:avLst/>
          </a:prstGeom>
          <a:solidFill>
            <a:srgbClr val="E8A54B"/>
          </a:solidFill>
          <a:ln/>
        </p:spPr>
      </p:sp>
      <p:sp>
        <p:nvSpPr>
          <p:cNvPr id="12" name="Text 10"/>
          <p:cNvSpPr/>
          <p:nvPr/>
        </p:nvSpPr>
        <p:spPr>
          <a:xfrm>
            <a:off x="1097280" y="3383280"/>
            <a:ext cx="4617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70" dirty="0">
                <a:solidFill>
                  <a:srgbClr val="4A6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Founding CDO/CTO, LawFi — built attorney fee financing end-to-end: origination, underwriting, integrations (the same playbook as VetFin)</a:t>
            </a:r>
            <a:endParaRPr lang="en-US" sz="1070" dirty="0"/>
          </a:p>
        </p:txBody>
      </p:sp>
      <p:sp>
        <p:nvSpPr>
          <p:cNvPr id="13" name="Shape 11"/>
          <p:cNvSpPr/>
          <p:nvPr/>
        </p:nvSpPr>
        <p:spPr>
          <a:xfrm>
            <a:off x="914400" y="4050792"/>
            <a:ext cx="73152" cy="73152"/>
          </a:xfrm>
          <a:prstGeom prst="ellipse">
            <a:avLst/>
          </a:prstGeom>
          <a:solidFill>
            <a:srgbClr val="E8A54B"/>
          </a:solidFill>
          <a:ln/>
        </p:spPr>
      </p:sp>
      <p:sp>
        <p:nvSpPr>
          <p:cNvPr id="14" name="Text 12"/>
          <p:cNvSpPr/>
          <p:nvPr/>
        </p:nvSpPr>
        <p:spPr>
          <a:xfrm>
            <a:off x="1097280" y="3913632"/>
            <a:ext cx="4617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70" dirty="0">
                <a:solidFill>
                  <a:srgbClr val="4A6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Founding CDO, Bloom Group — built the risk, decision, and pricing engines through a £300M Series A</a:t>
            </a:r>
            <a:endParaRPr lang="en-US" sz="1070" dirty="0"/>
          </a:p>
        </p:txBody>
      </p:sp>
      <p:sp>
        <p:nvSpPr>
          <p:cNvPr id="15" name="Shape 13"/>
          <p:cNvSpPr/>
          <p:nvPr/>
        </p:nvSpPr>
        <p:spPr>
          <a:xfrm>
            <a:off x="914400" y="4581144"/>
            <a:ext cx="73152" cy="73152"/>
          </a:xfrm>
          <a:prstGeom prst="ellipse">
            <a:avLst/>
          </a:prstGeom>
          <a:solidFill>
            <a:srgbClr val="E8A54B"/>
          </a:solidFill>
          <a:ln/>
        </p:spPr>
      </p:sp>
      <p:sp>
        <p:nvSpPr>
          <p:cNvPr id="16" name="Text 14"/>
          <p:cNvSpPr/>
          <p:nvPr/>
        </p:nvSpPr>
        <p:spPr>
          <a:xfrm>
            <a:off x="1097280" y="4443984"/>
            <a:ext cx="4617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70" dirty="0">
                <a:solidFill>
                  <a:srgbClr val="4A6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 of Data Science, Klarna — led risk &amp; decisioning platforms through hyper-growth</a:t>
            </a:r>
            <a:endParaRPr lang="en-US" sz="1070" dirty="0"/>
          </a:p>
        </p:txBody>
      </p:sp>
      <p:sp>
        <p:nvSpPr>
          <p:cNvPr id="17" name="Shape 15"/>
          <p:cNvSpPr/>
          <p:nvPr/>
        </p:nvSpPr>
        <p:spPr>
          <a:xfrm>
            <a:off x="914400" y="5111496"/>
            <a:ext cx="73152" cy="73152"/>
          </a:xfrm>
          <a:prstGeom prst="ellipse">
            <a:avLst/>
          </a:prstGeom>
          <a:solidFill>
            <a:srgbClr val="E8A54B"/>
          </a:solidFill>
          <a:ln/>
        </p:spPr>
      </p:sp>
      <p:sp>
        <p:nvSpPr>
          <p:cNvPr id="18" name="Text 16"/>
          <p:cNvSpPr/>
          <p:nvPr/>
        </p:nvSpPr>
        <p:spPr>
          <a:xfrm>
            <a:off x="1097280" y="4974336"/>
            <a:ext cx="4617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70" dirty="0">
                <a:solidFill>
                  <a:srgbClr val="4A6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Head of Data Science, Standard Bank — built the bank's first data science function</a:t>
            </a:r>
            <a:endParaRPr lang="en-US" sz="1070" dirty="0"/>
          </a:p>
        </p:txBody>
      </p:sp>
      <p:sp>
        <p:nvSpPr>
          <p:cNvPr id="19" name="Shape 17"/>
          <p:cNvSpPr/>
          <p:nvPr/>
        </p:nvSpPr>
        <p:spPr>
          <a:xfrm>
            <a:off x="914400" y="5641848"/>
            <a:ext cx="73152" cy="73152"/>
          </a:xfrm>
          <a:prstGeom prst="ellipse">
            <a:avLst/>
          </a:prstGeom>
          <a:solidFill>
            <a:srgbClr val="E8A54B"/>
          </a:solidFill>
          <a:ln/>
        </p:spPr>
      </p:sp>
      <p:sp>
        <p:nvSpPr>
          <p:cNvPr id="20" name="Text 18"/>
          <p:cNvSpPr/>
          <p:nvPr/>
        </p:nvSpPr>
        <p:spPr>
          <a:xfrm>
            <a:off x="1097280" y="5504688"/>
            <a:ext cx="4617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70" dirty="0">
                <a:solidFill>
                  <a:srgbClr val="4A6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MSc Machine Learning (Liverpool); BSc Mathematics (Pretoria)</a:t>
            </a:r>
            <a:endParaRPr lang="en-US" sz="1070" dirty="0"/>
          </a:p>
        </p:txBody>
      </p:sp>
      <p:sp>
        <p:nvSpPr>
          <p:cNvPr id="21" name="Shape 19"/>
          <p:cNvSpPr/>
          <p:nvPr/>
        </p:nvSpPr>
        <p:spPr>
          <a:xfrm>
            <a:off x="6080760" y="1828800"/>
            <a:ext cx="5486400" cy="4160520"/>
          </a:xfrm>
          <a:prstGeom prst="roundRect">
            <a:avLst>
              <a:gd name="adj" fmla="val 263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A2E28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355080" y="2103120"/>
            <a:ext cx="685800" cy="685800"/>
          </a:xfrm>
          <a:prstGeom prst="ellipse">
            <a:avLst/>
          </a:prstGeom>
          <a:solidFill>
            <a:srgbClr val="E8A54B"/>
          </a:solidFill>
          <a:ln/>
        </p:spPr>
      </p:sp>
      <p:sp>
        <p:nvSpPr>
          <p:cNvPr id="23" name="Text 21"/>
          <p:cNvSpPr/>
          <p:nvPr/>
        </p:nvSpPr>
        <p:spPr>
          <a:xfrm>
            <a:off x="6355080" y="21031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KK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7178040" y="210312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E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Dr. Karin Kruger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7178040" y="2450592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D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Co-Founder — Veterinary &amp; Clinic Relations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355080" y="2990088"/>
            <a:ext cx="73152" cy="73152"/>
          </a:xfrm>
          <a:prstGeom prst="ellipse">
            <a:avLst/>
          </a:prstGeom>
          <a:solidFill>
            <a:srgbClr val="E8A54B"/>
          </a:solidFill>
          <a:ln/>
        </p:spPr>
      </p:sp>
      <p:sp>
        <p:nvSpPr>
          <p:cNvPr id="27" name="Text 25"/>
          <p:cNvSpPr/>
          <p:nvPr/>
        </p:nvSpPr>
        <p:spPr>
          <a:xfrm>
            <a:off x="6537960" y="2852928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70" dirty="0">
                <a:solidFill>
                  <a:srgbClr val="4A6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Diplomate, American College of Veterinary Internal Medicine — board-certified equine internal medicine specialist</a:t>
            </a:r>
            <a:endParaRPr lang="en-US" sz="1070" dirty="0"/>
          </a:p>
        </p:txBody>
      </p:sp>
      <p:sp>
        <p:nvSpPr>
          <p:cNvPr id="28" name="Shape 26"/>
          <p:cNvSpPr/>
          <p:nvPr/>
        </p:nvSpPr>
        <p:spPr>
          <a:xfrm>
            <a:off x="6355080" y="3593592"/>
            <a:ext cx="73152" cy="73152"/>
          </a:xfrm>
          <a:prstGeom prst="ellipse">
            <a:avLst/>
          </a:prstGeom>
          <a:solidFill>
            <a:srgbClr val="E8A54B"/>
          </a:solidFill>
          <a:ln/>
        </p:spPr>
      </p:sp>
      <p:sp>
        <p:nvSpPr>
          <p:cNvPr id="29" name="Text 27"/>
          <p:cNvSpPr/>
          <p:nvPr/>
        </p:nvSpPr>
        <p:spPr>
          <a:xfrm>
            <a:off x="6537960" y="3456432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70" dirty="0">
                <a:solidFill>
                  <a:srgbClr val="4A6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15+ years of clinical practice across South Africa, Sweden, the UK, and the Netherlands</a:t>
            </a:r>
            <a:endParaRPr lang="en-US" sz="1070" dirty="0"/>
          </a:p>
        </p:txBody>
      </p:sp>
      <p:sp>
        <p:nvSpPr>
          <p:cNvPr id="30" name="Shape 28"/>
          <p:cNvSpPr/>
          <p:nvPr/>
        </p:nvSpPr>
        <p:spPr>
          <a:xfrm>
            <a:off x="6355080" y="4197096"/>
            <a:ext cx="73152" cy="73152"/>
          </a:xfrm>
          <a:prstGeom prst="ellipse">
            <a:avLst/>
          </a:prstGeom>
          <a:solidFill>
            <a:srgbClr val="E8A54B"/>
          </a:solidFill>
          <a:ln/>
        </p:spPr>
      </p:sp>
      <p:sp>
        <p:nvSpPr>
          <p:cNvPr id="31" name="Text 29"/>
          <p:cNvSpPr/>
          <p:nvPr/>
        </p:nvSpPr>
        <p:spPr>
          <a:xfrm>
            <a:off x="6537960" y="4059936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70" dirty="0">
                <a:solidFill>
                  <a:srgbClr val="4A6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Practicing veterinarian today at Dennenoord Dierenkliniek (Netherlands) and Equine Integrative Medicine (UK)</a:t>
            </a:r>
            <a:endParaRPr lang="en-US" sz="1070" dirty="0"/>
          </a:p>
        </p:txBody>
      </p:sp>
      <p:sp>
        <p:nvSpPr>
          <p:cNvPr id="32" name="Shape 30"/>
          <p:cNvSpPr/>
          <p:nvPr/>
        </p:nvSpPr>
        <p:spPr>
          <a:xfrm>
            <a:off x="6355080" y="4800600"/>
            <a:ext cx="73152" cy="73152"/>
          </a:xfrm>
          <a:prstGeom prst="ellipse">
            <a:avLst/>
          </a:prstGeom>
          <a:solidFill>
            <a:srgbClr val="E8A54B"/>
          </a:solidFill>
          <a:ln/>
        </p:spPr>
      </p:sp>
      <p:sp>
        <p:nvSpPr>
          <p:cNvPr id="33" name="Text 31"/>
          <p:cNvSpPr/>
          <p:nvPr/>
        </p:nvSpPr>
        <p:spPr>
          <a:xfrm>
            <a:off x="6537960" y="466344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70" dirty="0">
                <a:solidFill>
                  <a:srgbClr val="4A6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Deep, first-hand view of clinic economics, client conversations at the point of care, and what makes practices trust a financing partner</a:t>
            </a:r>
            <a:endParaRPr lang="en-US" sz="1070" dirty="0"/>
          </a:p>
        </p:txBody>
      </p:sp>
      <p:sp>
        <p:nvSpPr>
          <p:cNvPr id="34" name="Shape 32"/>
          <p:cNvSpPr/>
          <p:nvPr/>
        </p:nvSpPr>
        <p:spPr>
          <a:xfrm>
            <a:off x="6355080" y="5404104"/>
            <a:ext cx="73152" cy="73152"/>
          </a:xfrm>
          <a:prstGeom prst="ellipse">
            <a:avLst/>
          </a:prstGeom>
          <a:solidFill>
            <a:srgbClr val="E8A54B"/>
          </a:solidFill>
          <a:ln/>
        </p:spPr>
      </p:sp>
      <p:sp>
        <p:nvSpPr>
          <p:cNvPr id="35" name="Text 33"/>
          <p:cNvSpPr/>
          <p:nvPr/>
        </p:nvSpPr>
        <p:spPr>
          <a:xfrm>
            <a:off x="6537960" y="5266944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70" dirty="0">
                <a:solidFill>
                  <a:srgbClr val="4A6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BVSc, University of Pretoria; residency, North Carolina State University</a:t>
            </a:r>
            <a:endParaRPr lang="en-US" sz="1070" dirty="0"/>
          </a:p>
        </p:txBody>
      </p:sp>
      <p:sp>
        <p:nvSpPr>
          <p:cNvPr id="36" name="Text 34"/>
          <p:cNvSpPr/>
          <p:nvPr/>
        </p:nvSpPr>
        <p:spPr>
          <a:xfrm>
            <a:off x="1155161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4D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452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3840480"/>
            <a:ext cx="5486400" cy="5486400"/>
          </a:xfrm>
          <a:prstGeom prst="ellipse">
            <a:avLst/>
          </a:prstGeom>
          <a:solidFill>
            <a:srgbClr val="1D6B5C"/>
          </a:solidFill>
          <a:ln/>
        </p:spPr>
      </p:sp>
      <p:sp>
        <p:nvSpPr>
          <p:cNvPr id="3" name="Shape 1"/>
          <p:cNvSpPr/>
          <p:nvPr/>
        </p:nvSpPr>
        <p:spPr>
          <a:xfrm>
            <a:off x="9601200" y="-2011680"/>
            <a:ext cx="4754880" cy="4754880"/>
          </a:xfrm>
          <a:prstGeom prst="ellipse">
            <a:avLst/>
          </a:prstGeom>
          <a:solidFill>
            <a:srgbClr val="2A8F7A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502920"/>
            <a:ext cx="310896" cy="310896"/>
          </a:xfrm>
          <a:prstGeom prst="roundRect">
            <a:avLst>
              <a:gd name="adj" fmla="val 20588"/>
            </a:avLst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5029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D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VF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42416" y="48463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VetFin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228600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Raising $1,000,000 to close the seed round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640080" y="310896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D7E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Registration, a bank-partner agreement, and the first 3-5 practices live — funded by a team that has built this exact playbook before, twice.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0080" y="4114800"/>
            <a:ext cx="10881360" cy="1554480"/>
          </a:xfrm>
          <a:prstGeom prst="roundRect">
            <a:avLst>
              <a:gd name="adj" fmla="val 5882"/>
            </a:avLst>
          </a:prstGeom>
          <a:solidFill>
            <a:srgbClr val="1D6B5C"/>
          </a:solidFill>
          <a:ln/>
        </p:spPr>
      </p:sp>
      <p:sp>
        <p:nvSpPr>
          <p:cNvPr id="10" name="Text 8"/>
          <p:cNvSpPr/>
          <p:nvPr/>
        </p:nvSpPr>
        <p:spPr>
          <a:xfrm>
            <a:off x="1005840" y="43434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Werner Kruger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005840" y="47091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8A5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wernerkruger888@gmail.com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400800" y="43434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Dr. Karin Kruger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400800" y="47091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8A5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karin.kruger@vodamail.co.za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40080" y="62179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C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vetfin.com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2026-07-29T22:47:46Z</dcterms:created>
  <dcterms:modified xsi:type="dcterms:W3CDTF">2026-07-29T22:47:46Z</dcterms:modified>
</cp:coreProperties>
</file>